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84"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ru-RU"/>
              <a:t>Образец заголовка</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10/15/2025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10/15/2025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ru-RU"/>
              <a:t>Образец заголовка</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E5059C3-6A89-4494-99FF-5A4D6FFD50EB}" type="datetimeFigureOut">
              <a:rPr lang="en-US" dirty="0"/>
              <a:t>10/15/2025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10/15/2025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ru-RU"/>
              <a:t>Образец заголовка</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2609285" y="2851331"/>
            <a:ext cx="3893623" cy="307143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666635" y="2851331"/>
            <a:ext cx="3899798" cy="307143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10/15/2025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10/15/2025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10/15/2025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ru-RU"/>
              <a:t>Образец заголовка</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7D525BB-DA17-4BA0-B3C8-3AC3ABC827E6}" type="datetimeFigureOut">
              <a:rPr lang="en-US" dirty="0"/>
              <a:t>10/15/2025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B16C4C9A-3960-41CF-A4E9-2A8FB932454B}" type="datetimeFigureOut">
              <a:rPr lang="en-US" dirty="0"/>
              <a:t>10/15/2025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10/15/2025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ru-RU"/>
              <a:t>Образец заголовка</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10/15/2025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10/15/2025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B39311-8550-449B-AEB9-71540ADDBE48}"/>
              </a:ext>
            </a:extLst>
          </p:cNvPr>
          <p:cNvSpPr>
            <a:spLocks noGrp="1"/>
          </p:cNvSpPr>
          <p:nvPr>
            <p:ph type="ctrTitle"/>
          </p:nvPr>
        </p:nvSpPr>
        <p:spPr>
          <a:xfrm>
            <a:off x="2490839" y="516425"/>
            <a:ext cx="5518066" cy="1306575"/>
          </a:xfrm>
        </p:spPr>
        <p:txBody>
          <a:bodyPr>
            <a:normAutofit fontScale="90000"/>
          </a:bodyPr>
          <a:lstStyle/>
          <a:p>
            <a:r>
              <a:rPr lang="en-US" dirty="0"/>
              <a:t>The Republic of Mordovia</a:t>
            </a:r>
            <a:endParaRPr lang="ru-RU" dirty="0"/>
          </a:p>
        </p:txBody>
      </p:sp>
      <p:sp>
        <p:nvSpPr>
          <p:cNvPr id="3" name="Подзаголовок 2">
            <a:extLst>
              <a:ext uri="{FF2B5EF4-FFF2-40B4-BE49-F238E27FC236}">
                <a16:creationId xmlns:a16="http://schemas.microsoft.com/office/drawing/2014/main" id="{45D11B3B-89E6-40FC-93AD-1134206DF537}"/>
              </a:ext>
            </a:extLst>
          </p:cNvPr>
          <p:cNvSpPr>
            <a:spLocks noGrp="1"/>
          </p:cNvSpPr>
          <p:nvPr>
            <p:ph type="subTitle" idx="1"/>
          </p:nvPr>
        </p:nvSpPr>
        <p:spPr>
          <a:xfrm>
            <a:off x="2651305" y="-135534"/>
            <a:ext cx="5357600" cy="668224"/>
          </a:xfrm>
        </p:spPr>
        <p:txBody>
          <a:bodyPr/>
          <a:lstStyle/>
          <a:p>
            <a:r>
              <a:rPr lang="en-US" b="1" dirty="0"/>
              <a:t>My grandparents' homeland:</a:t>
            </a:r>
            <a:endParaRPr lang="ru-RU" dirty="0"/>
          </a:p>
        </p:txBody>
      </p:sp>
      <p:pic>
        <p:nvPicPr>
          <p:cNvPr id="5" name="Рисунок 4">
            <a:extLst>
              <a:ext uri="{FF2B5EF4-FFF2-40B4-BE49-F238E27FC236}">
                <a16:creationId xmlns:a16="http://schemas.microsoft.com/office/drawing/2014/main" id="{89557EB8-C14E-4605-93D4-85067C40668B}"/>
              </a:ext>
            </a:extLst>
          </p:cNvPr>
          <p:cNvPicPr>
            <a:picLocks noChangeAspect="1"/>
          </p:cNvPicPr>
          <p:nvPr/>
        </p:nvPicPr>
        <p:blipFill rotWithShape="1">
          <a:blip r:embed="rId2"/>
          <a:srcRect l="23583" r="20938"/>
          <a:stretch/>
        </p:blipFill>
        <p:spPr>
          <a:xfrm>
            <a:off x="9084181" y="0"/>
            <a:ext cx="2948298" cy="3542922"/>
          </a:xfrm>
          <a:prstGeom prst="rect">
            <a:avLst/>
          </a:prstGeom>
        </p:spPr>
      </p:pic>
      <p:pic>
        <p:nvPicPr>
          <p:cNvPr id="7" name="Рисунок 6">
            <a:extLst>
              <a:ext uri="{FF2B5EF4-FFF2-40B4-BE49-F238E27FC236}">
                <a16:creationId xmlns:a16="http://schemas.microsoft.com/office/drawing/2014/main" id="{7215318D-1711-42EB-89D6-1217A37828F8}"/>
              </a:ext>
            </a:extLst>
          </p:cNvPr>
          <p:cNvPicPr>
            <a:picLocks noChangeAspect="1"/>
          </p:cNvPicPr>
          <p:nvPr/>
        </p:nvPicPr>
        <p:blipFill>
          <a:blip r:embed="rId3"/>
          <a:stretch>
            <a:fillRect/>
          </a:stretch>
        </p:blipFill>
        <p:spPr>
          <a:xfrm>
            <a:off x="9092727" y="3569995"/>
            <a:ext cx="2948298" cy="3251394"/>
          </a:xfrm>
          <a:prstGeom prst="rect">
            <a:avLst/>
          </a:prstGeom>
        </p:spPr>
      </p:pic>
      <p:sp>
        <p:nvSpPr>
          <p:cNvPr id="9" name="TextBox 8">
            <a:extLst>
              <a:ext uri="{FF2B5EF4-FFF2-40B4-BE49-F238E27FC236}">
                <a16:creationId xmlns:a16="http://schemas.microsoft.com/office/drawing/2014/main" id="{6C811D5D-F8A5-46AC-8A7F-68597D513084}"/>
              </a:ext>
            </a:extLst>
          </p:cNvPr>
          <p:cNvSpPr txBox="1"/>
          <p:nvPr/>
        </p:nvSpPr>
        <p:spPr>
          <a:xfrm>
            <a:off x="3048712" y="2093781"/>
            <a:ext cx="5882224" cy="4801314"/>
          </a:xfrm>
          <a:prstGeom prst="rect">
            <a:avLst/>
          </a:prstGeom>
          <a:noFill/>
        </p:spPr>
        <p:txBody>
          <a:bodyPr wrap="square">
            <a:spAutoFit/>
          </a:bodyPr>
          <a:lstStyle/>
          <a:p>
            <a:r>
              <a:rPr lang="en-US" dirty="0"/>
              <a:t>Mordovia is a republic in the Russian Federation.</a:t>
            </a:r>
          </a:p>
          <a:p>
            <a:r>
              <a:rPr lang="en-US" dirty="0"/>
              <a:t>It is located in the very center of European Russia.</a:t>
            </a:r>
          </a:p>
          <a:p>
            <a:r>
              <a:rPr lang="en-US" dirty="0"/>
              <a:t>Our neighbors: Nizhny Novgorod, Ulyanovsk, and Penza regions, and the Republic of Chuvashia.</a:t>
            </a:r>
          </a:p>
          <a:p>
            <a:endParaRPr lang="en-US" dirty="0"/>
          </a:p>
          <a:p>
            <a:r>
              <a:rPr lang="en-US" dirty="0"/>
              <a:t>Symbols of The Republic of Mordovia:</a:t>
            </a:r>
          </a:p>
          <a:p>
            <a:r>
              <a:rPr lang="en-US" b="1" dirty="0"/>
              <a:t>The Flag:</a:t>
            </a:r>
          </a:p>
          <a:p>
            <a:r>
              <a:rPr lang="en-US" dirty="0"/>
              <a:t> -  A white, red, and dark blue tricolor.</a:t>
            </a:r>
          </a:p>
          <a:p>
            <a:pPr marL="266700"/>
            <a:r>
              <a:rPr lang="en-US" dirty="0"/>
              <a:t>White is for purity, red is for strength and courage, dark blue is for beauty and greatness. In the center, there is a sun sign, a symbol of life and prosperity.</a:t>
            </a:r>
          </a:p>
          <a:p>
            <a:r>
              <a:rPr lang="en-US" b="1" dirty="0"/>
              <a:t>The Coat of Arms:</a:t>
            </a:r>
            <a:endParaRPr lang="en-US" dirty="0"/>
          </a:p>
          <a:p>
            <a:pPr marL="266700"/>
            <a:r>
              <a:rPr lang="en-US" dirty="0"/>
              <a:t>It features a </a:t>
            </a:r>
            <a:r>
              <a:rPr lang="en-US" b="1" dirty="0"/>
              <a:t>red fox</a:t>
            </a:r>
            <a:r>
              <a:rPr lang="en-US" dirty="0"/>
              <a:t>.</a:t>
            </a:r>
          </a:p>
          <a:p>
            <a:pPr marL="266700"/>
            <a:r>
              <a:rPr lang="en-US" dirty="0"/>
              <a:t>The fox is a smart and clever animal. It is a symbol of the wisdom and inventiveness of the people. The red color is the color of life, joy, and beauty.</a:t>
            </a:r>
          </a:p>
          <a:p>
            <a:endParaRPr lang="en-US" dirty="0"/>
          </a:p>
        </p:txBody>
      </p:sp>
    </p:spTree>
    <p:extLst>
      <p:ext uri="{BB962C8B-B14F-4D97-AF65-F5344CB8AC3E}">
        <p14:creationId xmlns:p14="http://schemas.microsoft.com/office/powerpoint/2010/main" val="4049415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F7F46E-F8AB-48C2-835B-B3B63D9C7A44}"/>
              </a:ext>
            </a:extLst>
          </p:cNvPr>
          <p:cNvSpPr>
            <a:spLocks noGrp="1"/>
          </p:cNvSpPr>
          <p:nvPr>
            <p:ph type="ctrTitle"/>
          </p:nvPr>
        </p:nvSpPr>
        <p:spPr>
          <a:xfrm>
            <a:off x="2115694" y="316142"/>
            <a:ext cx="5518066" cy="306423"/>
          </a:xfrm>
        </p:spPr>
        <p:txBody>
          <a:bodyPr>
            <a:noAutofit/>
          </a:bodyPr>
          <a:lstStyle/>
          <a:p>
            <a:r>
              <a:rPr lang="en-US" sz="2400" b="1" dirty="0"/>
              <a:t>People and Culture</a:t>
            </a:r>
            <a:endParaRPr lang="ru-RU" sz="2400" dirty="0"/>
          </a:p>
        </p:txBody>
      </p:sp>
      <p:sp>
        <p:nvSpPr>
          <p:cNvPr id="3" name="Объект 2">
            <a:extLst>
              <a:ext uri="{FF2B5EF4-FFF2-40B4-BE49-F238E27FC236}">
                <a16:creationId xmlns:a16="http://schemas.microsoft.com/office/drawing/2014/main" id="{506C8E3F-5B4E-4CFA-AF8D-971ABFE87499}"/>
              </a:ext>
            </a:extLst>
          </p:cNvPr>
          <p:cNvSpPr>
            <a:spLocks noGrp="1"/>
          </p:cNvSpPr>
          <p:nvPr>
            <p:ph type="subTitle" idx="1"/>
          </p:nvPr>
        </p:nvSpPr>
        <p:spPr>
          <a:xfrm>
            <a:off x="2276160" y="1733765"/>
            <a:ext cx="5357600" cy="3879098"/>
          </a:xfrm>
        </p:spPr>
        <p:txBody>
          <a:bodyPr anchor="t">
            <a:noAutofit/>
          </a:bodyPr>
          <a:lstStyle/>
          <a:p>
            <a:pPr marL="0" indent="0">
              <a:buNone/>
            </a:pPr>
            <a:r>
              <a:rPr lang="en-US" b="1" dirty="0"/>
              <a:t>Who Lives in Mordovia?</a:t>
            </a:r>
          </a:p>
          <a:p>
            <a:pPr marL="0" indent="0">
              <a:buNone/>
            </a:pPr>
            <a:r>
              <a:rPr lang="en-US" dirty="0"/>
              <a:t>Mordovia is a multi-national republic. Different people live here together in friendship.</a:t>
            </a:r>
          </a:p>
          <a:p>
            <a:pPr marL="0" indent="0">
              <a:buNone/>
            </a:pPr>
            <a:r>
              <a:rPr lang="en-US" dirty="0"/>
              <a:t>Main peoples of the republic: The Moksha and the </a:t>
            </a:r>
            <a:r>
              <a:rPr lang="en-US" dirty="0" err="1"/>
              <a:t>Erzya</a:t>
            </a:r>
            <a:r>
              <a:rPr lang="en-US" dirty="0"/>
              <a:t> (together they are called </a:t>
            </a:r>
            <a:r>
              <a:rPr lang="en-US" dirty="0" err="1"/>
              <a:t>Mordvins</a:t>
            </a:r>
            <a:r>
              <a:rPr lang="en-US" dirty="0"/>
              <a:t>). They have very beautiful and ancient traditions!</a:t>
            </a:r>
          </a:p>
          <a:p>
            <a:pPr marL="0" indent="0">
              <a:buNone/>
            </a:pPr>
            <a:r>
              <a:rPr lang="en-US" dirty="0"/>
              <a:t>Russians, Tatars, and many others also live here.</a:t>
            </a:r>
          </a:p>
          <a:p>
            <a:pPr marL="0" indent="0">
              <a:buNone/>
            </a:pPr>
            <a:r>
              <a:rPr lang="en-US" dirty="0"/>
              <a:t>Mordovian costumes are very bright, with coins and embroidery.</a:t>
            </a:r>
          </a:p>
        </p:txBody>
      </p:sp>
      <p:pic>
        <p:nvPicPr>
          <p:cNvPr id="6" name="Рисунок 5">
            <a:extLst>
              <a:ext uri="{FF2B5EF4-FFF2-40B4-BE49-F238E27FC236}">
                <a16:creationId xmlns:a16="http://schemas.microsoft.com/office/drawing/2014/main" id="{C97FFEDA-5F6C-4EFE-956A-5B6F10742A7E}"/>
              </a:ext>
            </a:extLst>
          </p:cNvPr>
          <p:cNvPicPr>
            <a:picLocks noChangeAspect="1"/>
          </p:cNvPicPr>
          <p:nvPr/>
        </p:nvPicPr>
        <p:blipFill>
          <a:blip r:embed="rId2"/>
          <a:stretch>
            <a:fillRect/>
          </a:stretch>
        </p:blipFill>
        <p:spPr>
          <a:xfrm>
            <a:off x="8004530" y="128697"/>
            <a:ext cx="2151142" cy="4313065"/>
          </a:xfrm>
          <a:prstGeom prst="rect">
            <a:avLst/>
          </a:prstGeom>
        </p:spPr>
      </p:pic>
      <p:pic>
        <p:nvPicPr>
          <p:cNvPr id="8" name="Рисунок 7">
            <a:extLst>
              <a:ext uri="{FF2B5EF4-FFF2-40B4-BE49-F238E27FC236}">
                <a16:creationId xmlns:a16="http://schemas.microsoft.com/office/drawing/2014/main" id="{CAB0B19D-C1B8-4BB1-8F3E-4DA1B4870BD8}"/>
              </a:ext>
            </a:extLst>
          </p:cNvPr>
          <p:cNvPicPr>
            <a:picLocks noChangeAspect="1"/>
          </p:cNvPicPr>
          <p:nvPr/>
        </p:nvPicPr>
        <p:blipFill>
          <a:blip r:embed="rId3"/>
          <a:stretch>
            <a:fillRect/>
          </a:stretch>
        </p:blipFill>
        <p:spPr>
          <a:xfrm>
            <a:off x="8004532" y="4600887"/>
            <a:ext cx="2984282" cy="2099231"/>
          </a:xfrm>
          <a:prstGeom prst="rect">
            <a:avLst/>
          </a:prstGeom>
        </p:spPr>
      </p:pic>
    </p:spTree>
    <p:extLst>
      <p:ext uri="{BB962C8B-B14F-4D97-AF65-F5344CB8AC3E}">
        <p14:creationId xmlns:p14="http://schemas.microsoft.com/office/powerpoint/2010/main" val="3502661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168532D-4D96-4909-A1DF-7829AE67D290}"/>
              </a:ext>
            </a:extLst>
          </p:cNvPr>
          <p:cNvSpPr>
            <a:spLocks noGrp="1"/>
          </p:cNvSpPr>
          <p:nvPr>
            <p:ph type="ctrTitle"/>
          </p:nvPr>
        </p:nvSpPr>
        <p:spPr>
          <a:xfrm>
            <a:off x="1853049" y="316148"/>
            <a:ext cx="5518066" cy="403700"/>
          </a:xfrm>
        </p:spPr>
        <p:txBody>
          <a:bodyPr>
            <a:noAutofit/>
          </a:bodyPr>
          <a:lstStyle/>
          <a:p>
            <a:r>
              <a:rPr lang="en-US" sz="2400" b="1" dirty="0"/>
              <a:t>The Capital of Mordovia</a:t>
            </a:r>
            <a:endParaRPr lang="ru-RU" sz="2400" b="1" dirty="0"/>
          </a:p>
        </p:txBody>
      </p:sp>
      <p:sp>
        <p:nvSpPr>
          <p:cNvPr id="5" name="Подзаголовок 4">
            <a:extLst>
              <a:ext uri="{FF2B5EF4-FFF2-40B4-BE49-F238E27FC236}">
                <a16:creationId xmlns:a16="http://schemas.microsoft.com/office/drawing/2014/main" id="{03E52A70-26A1-417D-8D30-ADA6C58E2D99}"/>
              </a:ext>
            </a:extLst>
          </p:cNvPr>
          <p:cNvSpPr>
            <a:spLocks noGrp="1"/>
          </p:cNvSpPr>
          <p:nvPr>
            <p:ph type="subTitle" idx="1"/>
          </p:nvPr>
        </p:nvSpPr>
        <p:spPr>
          <a:xfrm>
            <a:off x="2013515" y="2101175"/>
            <a:ext cx="5357600" cy="3628417"/>
          </a:xfrm>
        </p:spPr>
        <p:txBody>
          <a:bodyPr anchor="t">
            <a:normAutofit/>
          </a:bodyPr>
          <a:lstStyle/>
          <a:p>
            <a:pPr>
              <a:lnSpc>
                <a:spcPct val="100000"/>
              </a:lnSpc>
              <a:spcBef>
                <a:spcPts val="0"/>
              </a:spcBef>
              <a:spcAft>
                <a:spcPts val="0"/>
              </a:spcAft>
            </a:pPr>
            <a:r>
              <a:rPr lang="en-US" dirty="0"/>
              <a:t>The capital of Mordovia is the city of Saransk.</a:t>
            </a:r>
          </a:p>
          <a:p>
            <a:pPr>
              <a:lnSpc>
                <a:spcPct val="100000"/>
              </a:lnSpc>
              <a:spcBef>
                <a:spcPts val="0"/>
              </a:spcBef>
              <a:spcAft>
                <a:spcPts val="0"/>
              </a:spcAft>
            </a:pPr>
            <a:r>
              <a:rPr lang="en-US" dirty="0"/>
              <a:t>Saransk is a clean and cozy city.</a:t>
            </a:r>
          </a:p>
          <a:p>
            <a:pPr>
              <a:lnSpc>
                <a:spcPct val="100000"/>
              </a:lnSpc>
              <a:spcBef>
                <a:spcPts val="0"/>
              </a:spcBef>
              <a:spcAft>
                <a:spcPts val="0"/>
              </a:spcAft>
            </a:pPr>
            <a:endParaRPr lang="en-US" dirty="0"/>
          </a:p>
          <a:p>
            <a:pPr>
              <a:lnSpc>
                <a:spcPct val="100000"/>
              </a:lnSpc>
              <a:spcBef>
                <a:spcPts val="0"/>
              </a:spcBef>
              <a:spcAft>
                <a:spcPts val="0"/>
              </a:spcAft>
            </a:pPr>
            <a:r>
              <a:rPr lang="en-US" dirty="0"/>
              <a:t>Saransk - A Sporty and Beautiful City</a:t>
            </a:r>
          </a:p>
          <a:p>
            <a:pPr>
              <a:lnSpc>
                <a:spcPct val="100000"/>
              </a:lnSpc>
              <a:spcBef>
                <a:spcPts val="0"/>
              </a:spcBef>
              <a:spcAft>
                <a:spcPts val="0"/>
              </a:spcAft>
            </a:pPr>
            <a:r>
              <a:rPr lang="en-US" dirty="0"/>
              <a:t>In 2018, it hosted matches of the FIFA World Cup! A modern stadium, Mordovia Arena, was built for this.</a:t>
            </a:r>
          </a:p>
          <a:p>
            <a:pPr>
              <a:lnSpc>
                <a:spcPct val="100000"/>
              </a:lnSpc>
              <a:spcBef>
                <a:spcPts val="0"/>
              </a:spcBef>
              <a:spcAft>
                <a:spcPts val="0"/>
              </a:spcAft>
            </a:pPr>
            <a:r>
              <a:rPr lang="en-US" dirty="0"/>
              <a:t>    </a:t>
            </a:r>
          </a:p>
          <a:p>
            <a:pPr>
              <a:lnSpc>
                <a:spcPct val="100000"/>
              </a:lnSpc>
              <a:spcBef>
                <a:spcPts val="0"/>
              </a:spcBef>
              <a:spcAft>
                <a:spcPts val="0"/>
              </a:spcAft>
            </a:pPr>
            <a:r>
              <a:rPr lang="en-US" dirty="0"/>
              <a:t>The city has many fountains, parks, and beautiful monuments.</a:t>
            </a:r>
          </a:p>
          <a:p>
            <a:pPr>
              <a:lnSpc>
                <a:spcPct val="100000"/>
              </a:lnSpc>
              <a:spcBef>
                <a:spcPts val="0"/>
              </a:spcBef>
              <a:spcAft>
                <a:spcPts val="0"/>
              </a:spcAft>
            </a:pPr>
            <a:endParaRPr lang="en-US" dirty="0"/>
          </a:p>
          <a:p>
            <a:pPr>
              <a:lnSpc>
                <a:spcPct val="100000"/>
              </a:lnSpc>
              <a:spcBef>
                <a:spcPts val="0"/>
              </a:spcBef>
              <a:spcAft>
                <a:spcPts val="0"/>
              </a:spcAft>
            </a:pPr>
            <a:r>
              <a:rPr lang="en-US" dirty="0"/>
              <a:t>One of the largest and most beautiful cathedrals in Russia is the Cathedral of St. Feodor Ushakov.</a:t>
            </a:r>
            <a:endParaRPr lang="ru-RU" dirty="0"/>
          </a:p>
        </p:txBody>
      </p:sp>
      <p:pic>
        <p:nvPicPr>
          <p:cNvPr id="9" name="Рисунок 8">
            <a:extLst>
              <a:ext uri="{FF2B5EF4-FFF2-40B4-BE49-F238E27FC236}">
                <a16:creationId xmlns:a16="http://schemas.microsoft.com/office/drawing/2014/main" id="{DFEBEBDC-F274-4DDE-B90B-3976A4C9E7B5}"/>
              </a:ext>
            </a:extLst>
          </p:cNvPr>
          <p:cNvPicPr>
            <a:picLocks noChangeAspect="1"/>
          </p:cNvPicPr>
          <p:nvPr/>
        </p:nvPicPr>
        <p:blipFill>
          <a:blip r:embed="rId2"/>
          <a:stretch>
            <a:fillRect/>
          </a:stretch>
        </p:blipFill>
        <p:spPr>
          <a:xfrm>
            <a:off x="7725733" y="306419"/>
            <a:ext cx="4372140" cy="2913435"/>
          </a:xfrm>
          <a:prstGeom prst="rect">
            <a:avLst/>
          </a:prstGeom>
        </p:spPr>
      </p:pic>
      <p:pic>
        <p:nvPicPr>
          <p:cNvPr id="11" name="Рисунок 10">
            <a:extLst>
              <a:ext uri="{FF2B5EF4-FFF2-40B4-BE49-F238E27FC236}">
                <a16:creationId xmlns:a16="http://schemas.microsoft.com/office/drawing/2014/main" id="{7056EA1D-0D1D-4910-88D2-71AAA8038D0E}"/>
              </a:ext>
            </a:extLst>
          </p:cNvPr>
          <p:cNvPicPr>
            <a:picLocks noChangeAspect="1"/>
          </p:cNvPicPr>
          <p:nvPr/>
        </p:nvPicPr>
        <p:blipFill>
          <a:blip r:embed="rId3"/>
          <a:stretch>
            <a:fillRect/>
          </a:stretch>
        </p:blipFill>
        <p:spPr>
          <a:xfrm>
            <a:off x="7732486" y="3503422"/>
            <a:ext cx="4365386" cy="2994655"/>
          </a:xfrm>
          <a:prstGeom prst="rect">
            <a:avLst/>
          </a:prstGeom>
        </p:spPr>
      </p:pic>
    </p:spTree>
    <p:extLst>
      <p:ext uri="{BB962C8B-B14F-4D97-AF65-F5344CB8AC3E}">
        <p14:creationId xmlns:p14="http://schemas.microsoft.com/office/powerpoint/2010/main" val="776488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D9FFA6EA-821B-434B-BA77-31850CB2B3E9}"/>
              </a:ext>
            </a:extLst>
          </p:cNvPr>
          <p:cNvSpPr>
            <a:spLocks noGrp="1"/>
          </p:cNvSpPr>
          <p:nvPr>
            <p:ph type="ctrTitle"/>
          </p:nvPr>
        </p:nvSpPr>
        <p:spPr>
          <a:xfrm>
            <a:off x="1570948" y="286964"/>
            <a:ext cx="5518066" cy="432883"/>
          </a:xfrm>
        </p:spPr>
        <p:txBody>
          <a:bodyPr>
            <a:normAutofit/>
          </a:bodyPr>
          <a:lstStyle/>
          <a:p>
            <a:r>
              <a:rPr lang="en-US" sz="2400" b="1" dirty="0"/>
              <a:t>The nature of Mordovia</a:t>
            </a:r>
            <a:endParaRPr lang="ru-RU" sz="2400" b="1" dirty="0"/>
          </a:p>
        </p:txBody>
      </p:sp>
      <p:sp>
        <p:nvSpPr>
          <p:cNvPr id="5" name="Подзаголовок 4">
            <a:extLst>
              <a:ext uri="{FF2B5EF4-FFF2-40B4-BE49-F238E27FC236}">
                <a16:creationId xmlns:a16="http://schemas.microsoft.com/office/drawing/2014/main" id="{95621AF2-5F80-40B0-916D-AAC094170091}"/>
              </a:ext>
            </a:extLst>
          </p:cNvPr>
          <p:cNvSpPr>
            <a:spLocks noGrp="1"/>
          </p:cNvSpPr>
          <p:nvPr>
            <p:ph type="subTitle" idx="1"/>
          </p:nvPr>
        </p:nvSpPr>
        <p:spPr>
          <a:xfrm>
            <a:off x="1731414" y="2869662"/>
            <a:ext cx="5357600" cy="2524327"/>
          </a:xfrm>
        </p:spPr>
        <p:txBody>
          <a:bodyPr>
            <a:noAutofit/>
          </a:bodyPr>
          <a:lstStyle/>
          <a:p>
            <a:r>
              <a:rPr lang="en-US" dirty="0"/>
              <a:t>The nature of Mordovia is beautiful and diverse. Vast forests, peaceful rivers, and fertile fields cover its land. These rich natural resources have shaped the republic's traditional way of life. For centuries, agriculture has been the heart of its economy. That is why Mordovia is often called an agrarian region. Its fields yield wheat, rye, potatoes, and other crops, while its farms raise cattle. </a:t>
            </a:r>
            <a:endParaRPr lang="ru-RU" dirty="0"/>
          </a:p>
        </p:txBody>
      </p:sp>
      <p:pic>
        <p:nvPicPr>
          <p:cNvPr id="7" name="Рисунок 6">
            <a:extLst>
              <a:ext uri="{FF2B5EF4-FFF2-40B4-BE49-F238E27FC236}">
                <a16:creationId xmlns:a16="http://schemas.microsoft.com/office/drawing/2014/main" id="{0E55C3DA-5C62-4308-8786-4CE9812A631C}"/>
              </a:ext>
            </a:extLst>
          </p:cNvPr>
          <p:cNvPicPr>
            <a:picLocks noChangeAspect="1"/>
          </p:cNvPicPr>
          <p:nvPr/>
        </p:nvPicPr>
        <p:blipFill>
          <a:blip r:embed="rId2"/>
          <a:stretch>
            <a:fillRect/>
          </a:stretch>
        </p:blipFill>
        <p:spPr>
          <a:xfrm>
            <a:off x="7694882" y="3760654"/>
            <a:ext cx="4211774" cy="2802744"/>
          </a:xfrm>
          <a:prstGeom prst="rect">
            <a:avLst/>
          </a:prstGeom>
        </p:spPr>
      </p:pic>
      <p:pic>
        <p:nvPicPr>
          <p:cNvPr id="9" name="Рисунок 8">
            <a:extLst>
              <a:ext uri="{FF2B5EF4-FFF2-40B4-BE49-F238E27FC236}">
                <a16:creationId xmlns:a16="http://schemas.microsoft.com/office/drawing/2014/main" id="{B138116C-7960-47CB-B61E-87A1A18B032D}"/>
              </a:ext>
            </a:extLst>
          </p:cNvPr>
          <p:cNvPicPr>
            <a:picLocks noChangeAspect="1"/>
          </p:cNvPicPr>
          <p:nvPr/>
        </p:nvPicPr>
        <p:blipFill rotWithShape="1">
          <a:blip r:embed="rId3"/>
          <a:srcRect b="29220"/>
          <a:stretch/>
        </p:blipFill>
        <p:spPr>
          <a:xfrm>
            <a:off x="7694882" y="170234"/>
            <a:ext cx="2765704" cy="3480124"/>
          </a:xfrm>
          <a:prstGeom prst="rect">
            <a:avLst/>
          </a:prstGeom>
        </p:spPr>
      </p:pic>
    </p:spTree>
    <p:extLst>
      <p:ext uri="{BB962C8B-B14F-4D97-AF65-F5344CB8AC3E}">
        <p14:creationId xmlns:p14="http://schemas.microsoft.com/office/powerpoint/2010/main" val="54341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C8011A0-3BDA-4405-93B7-C2582CDE947B}"/>
              </a:ext>
            </a:extLst>
          </p:cNvPr>
          <p:cNvSpPr>
            <a:spLocks noGrp="1"/>
          </p:cNvSpPr>
          <p:nvPr>
            <p:ph type="ctrTitle"/>
          </p:nvPr>
        </p:nvSpPr>
        <p:spPr>
          <a:xfrm>
            <a:off x="1626863" y="0"/>
            <a:ext cx="5518066" cy="476655"/>
          </a:xfrm>
        </p:spPr>
        <p:txBody>
          <a:bodyPr>
            <a:normAutofit/>
          </a:bodyPr>
          <a:lstStyle/>
          <a:p>
            <a:r>
              <a:rPr lang="en-US" sz="2400" b="1" dirty="0"/>
              <a:t>I love Mordovia!!</a:t>
            </a:r>
            <a:endParaRPr lang="ru-RU" sz="2400" b="1" dirty="0"/>
          </a:p>
        </p:txBody>
      </p:sp>
      <p:sp>
        <p:nvSpPr>
          <p:cNvPr id="5" name="Подзаголовок 4">
            <a:extLst>
              <a:ext uri="{FF2B5EF4-FFF2-40B4-BE49-F238E27FC236}">
                <a16:creationId xmlns:a16="http://schemas.microsoft.com/office/drawing/2014/main" id="{E4096C38-044B-4A63-B1FE-07E44752B19E}"/>
              </a:ext>
            </a:extLst>
          </p:cNvPr>
          <p:cNvSpPr>
            <a:spLocks noGrp="1"/>
          </p:cNvSpPr>
          <p:nvPr>
            <p:ph type="subTitle" idx="1"/>
          </p:nvPr>
        </p:nvSpPr>
        <p:spPr>
          <a:xfrm>
            <a:off x="1787329" y="3183186"/>
            <a:ext cx="5357600" cy="2711776"/>
          </a:xfrm>
        </p:spPr>
        <p:txBody>
          <a:bodyPr>
            <a:normAutofit/>
          </a:bodyPr>
          <a:lstStyle/>
          <a:p>
            <a:r>
              <a:rPr lang="en-US" dirty="0"/>
              <a:t>There's nothing better than spending my summer at my grandparents' place in Mordovia. I like it there so much! It has a special feeling — It smells of freshly cut grass and homemade pies, and I feel completely at home. I miss our evenings sitting on the porch and working together in the vegetable garden. So of course I'm going to visit them this summer! </a:t>
            </a:r>
            <a:endParaRPr lang="ru-RU" dirty="0"/>
          </a:p>
        </p:txBody>
      </p:sp>
      <p:pic>
        <p:nvPicPr>
          <p:cNvPr id="7" name="Рисунок 6">
            <a:extLst>
              <a:ext uri="{FF2B5EF4-FFF2-40B4-BE49-F238E27FC236}">
                <a16:creationId xmlns:a16="http://schemas.microsoft.com/office/drawing/2014/main" id="{E8DFA682-D056-4293-AF0D-EED24AAE48BD}"/>
              </a:ext>
            </a:extLst>
          </p:cNvPr>
          <p:cNvPicPr>
            <a:picLocks noChangeAspect="1"/>
          </p:cNvPicPr>
          <p:nvPr/>
        </p:nvPicPr>
        <p:blipFill>
          <a:blip r:embed="rId2"/>
          <a:stretch>
            <a:fillRect/>
          </a:stretch>
        </p:blipFill>
        <p:spPr>
          <a:xfrm>
            <a:off x="7661706" y="311284"/>
            <a:ext cx="3447281" cy="6128500"/>
          </a:xfrm>
          <a:prstGeom prst="rect">
            <a:avLst/>
          </a:prstGeom>
        </p:spPr>
      </p:pic>
    </p:spTree>
    <p:extLst>
      <p:ext uri="{BB962C8B-B14F-4D97-AF65-F5344CB8AC3E}">
        <p14:creationId xmlns:p14="http://schemas.microsoft.com/office/powerpoint/2010/main" val="32315174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Мэдисон">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{AE67F4F6-BFEF-4AF4-A688-FB8657AD1DF1}TF37254b02-f5b5-44b0-803d-e6af9466a02430b15390-63aae61ef10a</Template>
  <TotalTime>71</TotalTime>
  <Words>465</Words>
  <Application>Microsoft Office PowerPoint</Application>
  <PresentationFormat>Широкоэкранный</PresentationFormat>
  <Paragraphs>33</Paragraphs>
  <Slides>5</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5</vt:i4>
      </vt:variant>
    </vt:vector>
  </HeadingPairs>
  <TitlesOfParts>
    <vt:vector size="10" baseType="lpstr">
      <vt:lpstr>Arial</vt:lpstr>
      <vt:lpstr>MS Shell Dlg 2</vt:lpstr>
      <vt:lpstr>Wingdings</vt:lpstr>
      <vt:lpstr>Wingdings 3</vt:lpstr>
      <vt:lpstr>Мэдисон</vt:lpstr>
      <vt:lpstr>The Republic of Mordovia</vt:lpstr>
      <vt:lpstr>People and Culture</vt:lpstr>
      <vt:lpstr>The Capital of Mordovia</vt:lpstr>
      <vt:lpstr>The nature of Mordovia</vt:lpstr>
      <vt:lpstr>I love Mordovia!!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Republic of Mordovia</dc:title>
  <dc:creator>Andrey Pustoshkin</dc:creator>
  <cp:lastModifiedBy>Andrey Pustoshkin</cp:lastModifiedBy>
  <cp:revision>8</cp:revision>
  <dcterms:created xsi:type="dcterms:W3CDTF">2025-10-15T17:38:14Z</dcterms:created>
  <dcterms:modified xsi:type="dcterms:W3CDTF">2025-10-15T18:49:23Z</dcterms:modified>
</cp:coreProperties>
</file>